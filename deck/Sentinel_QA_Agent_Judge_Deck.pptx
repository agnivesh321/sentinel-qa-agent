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a1cf6a95524014" /><Relationship Type="http://schemas.openxmlformats.org/officeDocument/2006/relationships/extended-properties" Target="/docProps/app.xml" Id="R8b485c42b2974d9e" /><Relationship Type="http://schemas.openxmlformats.org/officeDocument/2006/relationships/officeDocument" Target="/ppt/presentation.xml" Id="Rba9cd22fcdd144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d7b662ac084d93"/>
  </p:sldMasterIdLst>
  <p:notesMasterIdLst>
    <p:notesMasterId xmlns:r="http://schemas.openxmlformats.org/officeDocument/2006/relationships" r:id="R4f08491c1a5e4dbe"/>
  </p:notesMasterIdLst>
  <p:sldIdLst>
    <p:sldId xmlns:r="http://schemas.openxmlformats.org/officeDocument/2006/relationships" id="256" r:id="Re094dc259ee047cc"/>
    <p:sldId xmlns:r="http://schemas.openxmlformats.org/officeDocument/2006/relationships" id="257" r:id="R2f6326bff1a84a47"/>
    <p:sldId xmlns:r="http://schemas.openxmlformats.org/officeDocument/2006/relationships" id="258" r:id="R8c738b9f945a400e"/>
    <p:sldId xmlns:r="http://schemas.openxmlformats.org/officeDocument/2006/relationships" id="259" r:id="R9d04f19ae73346c9"/>
    <p:sldId xmlns:r="http://schemas.openxmlformats.org/officeDocument/2006/relationships" id="260" r:id="R9606c0f2e1e04dba"/>
    <p:sldId xmlns:r="http://schemas.openxmlformats.org/officeDocument/2006/relationships" id="261" r:id="Rd6f382a5fa4e4e14"/>
    <p:sldId xmlns:r="http://schemas.openxmlformats.org/officeDocument/2006/relationships" id="262" r:id="Rfad256bbc5414fe0"/>
    <p:sldId xmlns:r="http://schemas.openxmlformats.org/officeDocument/2006/relationships" id="263" r:id="R3ec57017b630451d"/>
    <p:sldId xmlns:r="http://schemas.openxmlformats.org/officeDocument/2006/relationships" id="264" r:id="R8c208e79d2d04e7b"/>
    <p:sldId xmlns:r="http://schemas.openxmlformats.org/officeDocument/2006/relationships" id="265" r:id="Rfc722c1a424d480c"/>
    <p:sldId xmlns:r="http://schemas.openxmlformats.org/officeDocument/2006/relationships" id="266" r:id="R7fff994d47fa4c3d"/>
    <p:sldId xmlns:r="http://schemas.openxmlformats.org/officeDocument/2006/relationships" id="267" r:id="R4d39675dad0c41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7b662ac084d93" /><Relationship Type="http://schemas.openxmlformats.org/officeDocument/2006/relationships/theme" Target="/ppt/theme/theme1.xml" Id="R055fedee92664ad4" /><Relationship Type="http://schemas.openxmlformats.org/officeDocument/2006/relationships/notesMaster" Target="/ppt/notesMasters/notesMaster1.xml" Id="R4f08491c1a5e4dbe" /><Relationship Type="http://schemas.openxmlformats.org/officeDocument/2006/relationships/presProps" Target="/ppt/presProps.xml" Id="R4085cbe42eb34503" /><Relationship Type="http://schemas.openxmlformats.org/officeDocument/2006/relationships/viewProps" Target="/ppt/viewProps.xml" Id="Red86e7086fdd4e30" /><Relationship Type="http://schemas.openxmlformats.org/officeDocument/2006/relationships/tableStyles" Target="/ppt/tableStyles.xml" Id="Rdbdba9baaa774f89" /><Relationship Type="http://schemas.openxmlformats.org/officeDocument/2006/relationships/slide" Target="/ppt/slides/slide1.xml" Id="Re094dc259ee047cc" /><Relationship Type="http://schemas.openxmlformats.org/officeDocument/2006/relationships/slide" Target="/ppt/slides/slide2.xml" Id="R2f6326bff1a84a47" /><Relationship Type="http://schemas.openxmlformats.org/officeDocument/2006/relationships/slide" Target="/ppt/slides/slide3.xml" Id="R8c738b9f945a400e" /><Relationship Type="http://schemas.openxmlformats.org/officeDocument/2006/relationships/slide" Target="/ppt/slides/slide4.xml" Id="R9d04f19ae73346c9" /><Relationship Type="http://schemas.openxmlformats.org/officeDocument/2006/relationships/slide" Target="/ppt/slides/slide5.xml" Id="R9606c0f2e1e04dba" /><Relationship Type="http://schemas.openxmlformats.org/officeDocument/2006/relationships/slide" Target="/ppt/slides/slide6.xml" Id="Rd6f382a5fa4e4e14" /><Relationship Type="http://schemas.openxmlformats.org/officeDocument/2006/relationships/slide" Target="/ppt/slides/slide7.xml" Id="Rfad256bbc5414fe0" /><Relationship Type="http://schemas.openxmlformats.org/officeDocument/2006/relationships/slide" Target="/ppt/slides/slide8.xml" Id="R3ec57017b630451d" /><Relationship Type="http://schemas.openxmlformats.org/officeDocument/2006/relationships/slide" Target="/ppt/slides/slide9.xml" Id="R8c208e79d2d04e7b" /><Relationship Type="http://schemas.openxmlformats.org/officeDocument/2006/relationships/slide" Target="/ppt/slides/slide10.xml" Id="Rfc722c1a424d480c" /><Relationship Type="http://schemas.openxmlformats.org/officeDocument/2006/relationships/slide" Target="/ppt/slides/slide11.xml" Id="R7fff994d47fa4c3d" /><Relationship Type="http://schemas.openxmlformats.org/officeDocument/2006/relationships/slide" Target="/ppt/slides/slide12.xml" Id="R4d39675dad0c41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f250ed225e47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e2f2dd28d94787" /><Relationship Type="http://schemas.openxmlformats.org/officeDocument/2006/relationships/notesMaster" Target="/ppt/notesMasters/notesMaster1.xml" Id="R37d77a249140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177216e32446c5" /><Relationship Type="http://schemas.openxmlformats.org/officeDocument/2006/relationships/notesMaster" Target="/ppt/notesMasters/notesMaster1.xml" Id="Ra1c663b52fb847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108f5805a54400" /><Relationship Type="http://schemas.openxmlformats.org/officeDocument/2006/relationships/notesMaster" Target="/ppt/notesMasters/notesMaster1.xml" Id="R344a26b640e244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a9be3e7fbb46fb" /><Relationship Type="http://schemas.openxmlformats.org/officeDocument/2006/relationships/notesMaster" Target="/ppt/notesMasters/notesMaster1.xml" Id="Rf1cf6110f7b34b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1f0edcdfdd4216" /><Relationship Type="http://schemas.openxmlformats.org/officeDocument/2006/relationships/notesMaster" Target="/ppt/notesMasters/notesMaster1.xml" Id="R0ff60660082f40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ae4c8cf14b4fb7" /><Relationship Type="http://schemas.openxmlformats.org/officeDocument/2006/relationships/notesMaster" Target="/ppt/notesMasters/notesMaster1.xml" Id="R013f743c08b54d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8a65de72b842fa" /><Relationship Type="http://schemas.openxmlformats.org/officeDocument/2006/relationships/notesMaster" Target="/ppt/notesMasters/notesMaster1.xml" Id="R20068390b3dd4b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b82cc95741404d" /><Relationship Type="http://schemas.openxmlformats.org/officeDocument/2006/relationships/notesMaster" Target="/ppt/notesMasters/notesMaster1.xml" Id="Rfd69727506dd4f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a6b763dc7944f1" /><Relationship Type="http://schemas.openxmlformats.org/officeDocument/2006/relationships/notesMaster" Target="/ppt/notesMasters/notesMaster1.xml" Id="Rf993a418124e44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a9aa15fada4bd2" /><Relationship Type="http://schemas.openxmlformats.org/officeDocument/2006/relationships/notesMaster" Target="/ppt/notesMasters/notesMaster1.xml" Id="R19867f2672b64d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4f7fc6980d40ed" /><Relationship Type="http://schemas.openxmlformats.org/officeDocument/2006/relationships/notesMaster" Target="/ppt/notesMasters/notesMaster1.xml" Id="R0844d00bc5334d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467bc18f4f430b" /><Relationship Type="http://schemas.openxmlformats.org/officeDocument/2006/relationships/notesMaster" Target="/ppt/notesMasters/notesMaster1.xml" Id="R0efd1a21b57341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d9d9e3f2a4d8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4917260f9a249c8" /><Relationship Type="http://schemas.openxmlformats.org/officeDocument/2006/relationships/slideLayout" Target="/ppt/slideLayouts/slideLayout2.xml" Id="R2f1f6e7b694a4b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1f6e7b694a4b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0ebc2c07c14b01" /><Relationship Type="http://schemas.openxmlformats.org/officeDocument/2006/relationships/image" Target="/ppt/media/image.png" Id="Re384b7ec70444bf1" /><Relationship Type="http://schemas.openxmlformats.org/officeDocument/2006/relationships/image" Target="/ppt/media/image.svg" Id="R0ef5d6ae09494681" /><Relationship Type="http://schemas.openxmlformats.org/officeDocument/2006/relationships/notesSlide" Target="/ppt/notesSlides/notesSlide1.xml" Id="R9503f7f5dec040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2c8c383d084ec4" /><Relationship Type="http://schemas.openxmlformats.org/officeDocument/2006/relationships/image" Target="/ppt/media/image2.png" Id="R828f2a5a72974972" /><Relationship Type="http://schemas.openxmlformats.org/officeDocument/2006/relationships/image" Target="/ppt/media/image2.svg" Id="R891b0d8f3c514fa2" /><Relationship Type="http://schemas.openxmlformats.org/officeDocument/2006/relationships/image" Target="/ppt/media/image3.png" Id="R33754b6dd71b472c" /><Relationship Type="http://schemas.openxmlformats.org/officeDocument/2006/relationships/image" Target="/ppt/media/image3.svg" Id="Rd564ca840d43464f" /><Relationship Type="http://schemas.openxmlformats.org/officeDocument/2006/relationships/notesSlide" Target="/ppt/notesSlides/notesSlide2.xml" Id="Rda8c3e1b74aa48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b040a9631847e7" /><Relationship Type="http://schemas.openxmlformats.org/officeDocument/2006/relationships/notesSlide" Target="/ppt/notesSlides/notesSlide3.xml" Id="Ree9443fbc3384e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72279679454734" /><Relationship Type="http://schemas.openxmlformats.org/officeDocument/2006/relationships/notesSlide" Target="/ppt/notesSlides/notesSlide4.xml" Id="Rf741d3199a8045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e94789dadd4547" /><Relationship Type="http://schemas.openxmlformats.org/officeDocument/2006/relationships/notesSlide" Target="/ppt/notesSlides/notesSlide5.xml" Id="R714510dc64b84a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c037c52fbd4d82" /><Relationship Type="http://schemas.openxmlformats.org/officeDocument/2006/relationships/notesSlide" Target="/ppt/notesSlides/notesSlide6.xml" Id="R8014d9b298924f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e74cb525844be" /><Relationship Type="http://schemas.openxmlformats.org/officeDocument/2006/relationships/notesSlide" Target="/ppt/notesSlides/notesSlide7.xml" Id="Re06e7cff59e844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08936746f54b56" /><Relationship Type="http://schemas.openxmlformats.org/officeDocument/2006/relationships/notesSlide" Target="/ppt/notesSlides/notesSlide8.xml" Id="Re32ba7a45ec345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655bf5153542a1" /><Relationship Type="http://schemas.openxmlformats.org/officeDocument/2006/relationships/notesSlide" Target="/ppt/notesSlides/notesSlide9.xml" Id="R852c8c6ead374b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124ad9239c4f4c" /><Relationship Type="http://schemas.openxmlformats.org/officeDocument/2006/relationships/notesSlide" Target="/ppt/notesSlides/notesSlide10.xml" Id="Rcbec9256a45c48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fb1e0d447b45d4" /><Relationship Type="http://schemas.openxmlformats.org/officeDocument/2006/relationships/notesSlide" Target="/ppt/notesSlides/notesSlide11.xml" Id="R767029c4f30b44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e1cecd1b20485c" /><Relationship Type="http://schemas.openxmlformats.org/officeDocument/2006/relationships/notesSlide" Target="/ppt/notesSlides/notesSlide12.xml" Id="Rc779e63ff89040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A0642C-35B5-4100-B831-CF49584D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940B9-F02E-43C3-A93A-7CBB7D4E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E9FF1-B0AF-4C57-BAB9-A8579ED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D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C38E8-CE74-4CA8-87C3-66F0E141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429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436"/>
          </a:solidFill>
          <a:ln xmlns:a="http://schemas.openxmlformats.org/drawingml/2006/main" w="19050">
            <a:solidFill>
              <a:srgbClr val="2A5F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34F84-1D4E-4927-A511-F9E9BC3D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90650"/>
            <a:ext cx="1943100" cy="194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70"/>
          </a:solidFill>
          <a:ln xmlns:a="http://schemas.openxmlformats.org/drawingml/2006/main" w="28575">
            <a:solidFill>
              <a:srgbClr val="86DA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6DB16-07C1-4B51-9FE6-6EC7FAAC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B96F0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5E133-527D-49A7-9A16-72413211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38325"/>
            <a:ext cx="1238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4EF95-F582-4FFC-99A2-DFBF9CB8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95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CECE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CEC"/>
                </a:solidFill>
                <a:latin typeface="Aptos"/>
                <a:ea typeface="Aptos"/>
                <a:cs typeface="Aptos"/>
              </a:rPr>
              <a:t>release risk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4b7ec70444bf1">
            <a:extLst>
              <a:ext uri="{96DAC541-7B7A-43D3-8B79-37D633B846F1}">
                <asvg:svgBlip xmlns:asvg="http://schemas.microsoft.com/office/drawing/2016/SVG/main" r:embed="R0ef5d6ae094946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44000" y="28860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64F20-7E2C-4DED-B1DB-82713F2A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Sentinel QA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55C7C-20EA-4F5C-B1AF-7B645BD8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FE3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FE3E4"/>
                </a:solidFill>
                <a:latin typeface="Aptos"/>
                <a:ea typeface="Aptos"/>
                <a:cs typeface="Aptos"/>
              </a:rPr>
              <a:t>AI release guardian for UiPath Test Cloud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C4BC2-9E87-4517-9E86-96489117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5391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F5F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8F5F4"/>
                </a:solidFill>
                <a:latin typeface="Aptos"/>
                <a:ea typeface="Aptos"/>
                <a:cs typeface="Aptos"/>
              </a:rPr>
              <a:t>Turns risky app changes into security-aware test plans, evidence, and human approval gates before production.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49758-0198-4F3C-98CD-8C2AD0BB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8765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7E6E2"/>
          </a:solidFill>
          <a:ln xmlns:a="http://schemas.openxmlformats.org/drawingml/2006/main" w="9525">
            <a:solidFill>
              <a:srgbClr val="B7E6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0CFC6-85AB-40BF-9F90-ABF1FF41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2609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25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2528"/>
                </a:solidFill>
                <a:latin typeface="Aptos"/>
                <a:ea typeface="Aptos"/>
                <a:cs typeface="Aptos"/>
              </a:rPr>
              <a:t>UiPath AgentHack | Track 3: Test 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F8E21-D297-4BC2-A6DE-5867E232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86200"/>
            <a:ext cx="3067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FFF0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2F90A-4144-41CC-9AB9-1EAC3A59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52875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Security + QA + Release Governance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46E5F-BEAD-4363-BDAC-7D32E1C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542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3235"/>
          </a:solidFill>
          <a:ln xmlns:a="http://schemas.openxmlformats.org/drawingml/2006/main" w="9525">
            <a:solidFill>
              <a:srgbClr val="2A5F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DE885B-CDBD-42C1-863A-48159FFB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6DA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6DAD6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5FBAD-9532-468D-9ECF-4A36200C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best enterprise agent is the one a release team can safely trust.</a:t>
            </a:r>
          </a:p>
        </p:txBody>
      </p:sp>
    </p:spTree>
    <p:extLst>
      <p:ext uri="{BB962C8B-B14F-4D97-AF65-F5344CB8AC3E}">
        <p14:creationId xmlns:p14="http://schemas.microsoft.com/office/powerpoint/2010/main" val="20023449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82DD5-5AAF-4EBC-A6D0-0E7EF752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B0473-DBED-4102-89B3-05249F1A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56348-127A-4019-926A-A051F497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Sentinel QA Agent | UiPath Test Cloud release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E2475-2899-4F68-B9DB-34474A01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AA3D9-AA52-4117-BBE2-3A25D892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70A22-B653-487B-96E9-97ACAEA1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AI can create workflows. Enterprises still need release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C52A6-0451-4438-9328-E412BF6D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Autonomy without testing becomes operational risk.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04959-A6B1-4FCE-80F4-212AB7D0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8768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F0D0A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48E4D-0EB2-46AE-BE0A-42675DF0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48768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FF8F7"/>
          </a:solidFill>
          <a:ln xmlns:a="http://schemas.openxmlformats.org/drawingml/2006/main" w="9525">
            <a:solidFill>
              <a:srgbClr val="B7E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16735-97D8-4B4E-ADD3-65DAA6FD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What most agent demos show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C8786-788B-46FA-85F0-25862DE1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Task completed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5C056-B059-4194-A820-8C915C9B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No evidence chain</a:t>
            </a:r>
          </a:p>
          <a:p xmlns:a="http://schemas.openxmlformats.org/drawingml/2006/main">
            <a:pPr algn="l">
              <a:defRPr sz="150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No test ownership</a:t>
            </a:r>
          </a:p>
          <a:p xmlns:a="http://schemas.openxmlformats.org/drawingml/2006/main">
            <a:pPr algn="l">
              <a:defRPr sz="150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No exception route</a:t>
            </a:r>
          </a:p>
          <a:p xmlns:a="http://schemas.openxmlformats.org/drawingml/2006/main">
            <a:pPr algn="l">
              <a:defRPr sz="150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No release decision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f2a5a72974972">
            <a:extLst>
              <a:ext uri="{96DAC541-7B7A-43D3-8B79-37D633B846F1}">
                <asvg:svgBlip xmlns:asvg="http://schemas.microsoft.com/office/drawing/2016/SVG/main" r:embed="R891b0d8f3c514f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67200" y="3124200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1141D-B26C-4CBA-B06A-A05E264E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098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What enterprise buyers need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A7DAF-4BDB-40C0-BAA6-A0F5B970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Trust before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B63F7-110A-4770-9D02-DE623C64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099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Risk-ranked tests</a:t>
            </a:r>
          </a:p>
          <a:p xmlns:a="http://schemas.openxmlformats.org/drawingml/2006/main">
            <a:pPr algn="l">
              <a:defRPr sz="150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Execution evidence</a:t>
            </a:r>
          </a:p>
          <a:p xmlns:a="http://schemas.openxmlformats.org/drawingml/2006/main">
            <a:pPr algn="l">
              <a:defRPr sz="150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Human review gate</a:t>
            </a:r>
          </a:p>
          <a:p xmlns:a="http://schemas.openxmlformats.org/drawingml/2006/main">
            <a:pPr algn="l">
              <a:defRPr sz="150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Auditable decision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54b6dd71b472c">
            <a:extLst>
              <a:ext uri="{96DAC541-7B7A-43D3-8B79-37D633B846F1}">
                <asvg:svgBlip xmlns:asvg="http://schemas.microsoft.com/office/drawing/2016/SVG/main" r:embed="Rd564ca840d4346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39350" y="3124200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B932B-95BC-4267-889B-5DD6966E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62600"/>
            <a:ext cx="967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Sentinel starts where the happy path ends: failed tests, blocked releases, and accountable review.</a:t>
            </a:r>
          </a:p>
        </p:txBody>
      </p:sp>
    </p:spTree>
    <p:extLst>
      <p:ext uri="{BB962C8B-B14F-4D97-AF65-F5344CB8AC3E}">
        <p14:creationId xmlns:p14="http://schemas.microsoft.com/office/powerpoint/2010/main" val="3227237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11645F-49E7-4902-9C03-85BEA87E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C01ED-44A1-42BE-AA4E-7BAA4821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B46E3-2581-4727-9000-18F7B7CD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Sentinel QA Agent | UiPath Test Cloud release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D0C6F-3299-452B-911E-9CCD6394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89331-CE72-4D1C-8F22-1457C44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E7368-3A2D-4C4F-B6B0-8E5EBB97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Winning agent ≠ most autonomous. Winning agent = safely deployable.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AC4AC-CF54-4525-937C-5804C553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Judges remember the project that handles the failure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B5144-5827-40B4-AAD5-B157D3D4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4F46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75947-351F-4DC5-914F-E50A961C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F46A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F46A5"/>
                </a:solidFill>
                <a:latin typeface="Aptos"/>
                <a:ea typeface="Aptos"/>
                <a:cs typeface="Aptos"/>
              </a:rPr>
              <a:t>Autonomous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68B9E-00B3-44FB-885A-0A831592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52775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Agent recommends or executes workflow steps.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41D48-F8BD-4541-8BC9-682301EA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29075"/>
            <a:ext cx="7048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4F46A5"/>
          </a:solidFill>
          <a:ln xmlns:a="http://schemas.openxmlformats.org/drawingml/2006/main" w="0">
            <a:solidFill>
              <a:srgbClr val="4F46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1B798-A239-46F8-BAF1-E59195CD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243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46A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F46A5"/>
                </a:solidFill>
                <a:latin typeface="Aptos"/>
                <a:ea typeface="Aptos"/>
                <a:cs typeface="Aptos"/>
              </a:rPr>
              <a:t>Bot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3E28F-CE05-4FA3-9356-E2A5FF77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CFEFED"/>
          </a:solidFill>
          <a:ln xmlns:a="http://schemas.openxmlformats.org/drawingml/2006/main" w="9525">
            <a:solidFill>
              <a:srgbClr val="0F6F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2269C-D9A2-47D8-A133-D1BA9719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1937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0D02B-F93C-4F85-9CD1-C70D552F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52775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Test Cloud captures proof, screenshots, results and trace.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DB421-12C5-4FC4-9BE1-5ADAEB23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29075"/>
            <a:ext cx="7048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F6F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66E8A-15DC-4D3B-AFC1-118C9CD8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243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FileCheck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6F611-4881-4253-845D-3EA448AF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B96F0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F795F-5A6D-4D3D-8380-660943B3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1937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Human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E0AE6-D977-496C-8BB8-C0B422A8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52775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Risky or failed releases route to approval before production.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FDE57-C402-4C00-A0D3-C4795FA7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29075"/>
            <a:ext cx="7048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B96F0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957814-5578-40A0-BE85-5BD93908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243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UserCheck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90408-489C-4E0B-9681-AB32E46B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62300"/>
            <a:ext cx="419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BCD2E-B2DF-4B1E-ACDB-F18C2C11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62300"/>
            <a:ext cx="419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43074D-1722-4CD3-8FB0-FDCF822A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57800"/>
            <a:ext cx="4914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A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7A39"/>
                </a:solidFill>
                <a:latin typeface="Aptos"/>
                <a:ea typeface="Aptos"/>
                <a:cs typeface="Aptos"/>
              </a:rPr>
              <a:t>Safe release control plane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C8382D-A31B-438A-9EFA-79022160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715000"/>
            <a:ext cx="411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That is the enterprise story UiPath can own.</a:t>
            </a:r>
          </a:p>
        </p:txBody>
      </p:sp>
    </p:spTree>
    <p:extLst>
      <p:ext uri="{BB962C8B-B14F-4D97-AF65-F5344CB8AC3E}">
        <p14:creationId xmlns:p14="http://schemas.microsoft.com/office/powerpoint/2010/main" val="13848507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05DD0-7C44-42BA-84AA-9DE35336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60544-541E-4961-8567-C3DFA8F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59318-4A74-4D91-887D-CDB413AD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Sentinel QA Agent | UiPath Test Cloud release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C455E-B7DF-4249-803F-0889C66B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9EA66-8451-4AF5-B3F2-EAC9CDA4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96349-C136-493F-A8AB-F6BA3229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Sentinel turns a change into a release decision, with UiPath as the control plane.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1372C-21FD-465E-ABF1-6F9C75B0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The local demo exports the same handoff objects the live UiPath loop needs.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113B0-1731-4428-9D27-30DED8F5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6954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4F46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0132C-7F00-4AEC-A729-E4560725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46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F46A5"/>
                </a:solidFill>
                <a:latin typeface="Aptos"/>
                <a:ea typeface="Aptos"/>
                <a:cs typeface="Aptos"/>
              </a:rPr>
              <a:t>Code / product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61681-830F-45EA-89A9-D7AF32A6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GitHub PR, release note, diff excerpt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C9209-C42F-4C4D-827F-B9EEE4B1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16954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CFEFED"/>
          </a:solidFill>
          <a:ln xmlns:a="http://schemas.openxmlformats.org/drawingml/2006/main" w="9525">
            <a:solidFill>
              <a:srgbClr val="0F6F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43A06-F151-44CC-B1E8-1B50641E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Risk classifier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08B2B-769B-4EC7-BABB-579FF0B6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146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Payment, auth, AI agent, webhook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AA280-8A9C-47E7-B9CB-CAEB513D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00300"/>
            <a:ext cx="16954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CFEFED"/>
          </a:solidFill>
          <a:ln xmlns:a="http://schemas.openxmlformats.org/drawingml/2006/main" w="9525">
            <a:solidFill>
              <a:srgbClr val="0F6F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88DC3-BDAB-46EC-94B7-42F6B229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Test planner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55825A-B773-490F-BEE9-6C1CB3BB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146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Risk-ranked Test Cloud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CFAB4-F0C3-4302-8969-1D3FF243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16954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B96F0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D4430-59D4-49A0-8886-79FA1A8A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71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UiPath Test 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FD5EE-8044-4C54-B0ED-2EEA42A8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146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Execution evidence + results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7EA5F-34A4-4C99-A0F3-6E4CA913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00300"/>
            <a:ext cx="16954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CE5E2"/>
          </a:solidFill>
          <a:ln xmlns:a="http://schemas.openxmlformats.org/drawingml/2006/main" w="9525">
            <a:solidFill>
              <a:srgbClr val="A8261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7FE10-46E1-49FB-8037-2BDB540D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717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26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82619"/>
                </a:solidFill>
                <a:latin typeface="Aptos"/>
                <a:ea typeface="Aptos"/>
                <a:cs typeface="Aptos"/>
              </a:rPr>
              <a:t>Action Center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13C49-C11C-4727-A27D-6C61529F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146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Human approval for failed/high-risk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1FA2E-5CC0-416B-8CF7-3BC21581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3152775"/>
            <a:ext cx="123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C"/>
          </a:solidFill>
          <a:ln xmlns:a="http://schemas.openxmlformats.org/drawingml/2006/main" w="0">
            <a:solidFill>
              <a:srgbClr val="62707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40007-B01F-49E6-863D-99365974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24125" y="310515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707C"/>
          </a:solidFill>
          <a:ln xmlns:a="http://schemas.openxmlformats.org/drawingml/2006/main" w="0">
            <a:solidFill>
              <a:srgbClr val="62707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E2394E-9FE2-4ACE-AE59-A504DA71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3152775"/>
            <a:ext cx="123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C"/>
          </a:solidFill>
          <a:ln xmlns:a="http://schemas.openxmlformats.org/drawingml/2006/main" w="0">
            <a:solidFill>
              <a:srgbClr val="62707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8F414-B4AB-4539-BEE5-9DE31559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81525" y="310515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707C"/>
          </a:solidFill>
          <a:ln xmlns:a="http://schemas.openxmlformats.org/drawingml/2006/main" w="0">
            <a:solidFill>
              <a:srgbClr val="62707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31235-C5F7-4346-A1B7-54D176A1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3152775"/>
            <a:ext cx="123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C"/>
          </a:solidFill>
          <a:ln xmlns:a="http://schemas.openxmlformats.org/drawingml/2006/main" w="0">
            <a:solidFill>
              <a:srgbClr val="6270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D8878-E6AA-438F-BDBF-10573A65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38925" y="310515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707C"/>
          </a:solidFill>
          <a:ln xmlns:a="http://schemas.openxmlformats.org/drawingml/2006/main" w="0">
            <a:solidFill>
              <a:srgbClr val="62707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89E920-63FE-4C97-B419-0A8BA416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2975" y="3152775"/>
            <a:ext cx="123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C"/>
          </a:solidFill>
          <a:ln xmlns:a="http://schemas.openxmlformats.org/drawingml/2006/main" w="0">
            <a:solidFill>
              <a:srgbClr val="62707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FF2B85-48CF-4CCF-9541-D0D9535E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96325" y="310515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707C"/>
          </a:solidFill>
          <a:ln xmlns:a="http://schemas.openxmlformats.org/drawingml/2006/main" w="0">
            <a:solidFill>
              <a:srgbClr val="62707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D52B47-7515-4850-9DDE-7538F256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14850"/>
            <a:ext cx="7124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B7B503-705B-4574-913B-E01193B5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Release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EACAE4-2F9D-40DF-81C0-520DC10E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546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261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82619"/>
                </a:solidFill>
                <a:latin typeface="Aptos"/>
                <a:ea typeface="Aptos"/>
                <a:cs typeface="Aptos"/>
              </a:rPr>
              <a:t>BLOCK_RELEASE_PENDING_HUMAN_REVIEW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8C64E6-D332-4096-BF32-D7827D76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38700"/>
            <a:ext cx="800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No silent push after failed evidence.</a:t>
            </a:r>
          </a:p>
        </p:txBody>
      </p:sp>
    </p:spTree>
    <p:extLst>
      <p:ext uri="{BB962C8B-B14F-4D97-AF65-F5344CB8AC3E}">
        <p14:creationId xmlns:p14="http://schemas.microsoft.com/office/powerpoint/2010/main" val="16500273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D99FD4-A4B2-449D-AE0F-FF970038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8D24F-CF46-4D3D-80E5-55A4D54B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5B983-3271-496F-9F0D-ED92F01E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Sentinel QA Agent | UiPath Test Cloud release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370AA-29CB-475A-AE3D-20C8F319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A5C1F-4BD0-4F6A-B9C2-DF371FF7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DEMO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58216-539F-4818-B547-3ECF3BC7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AI-assisted invoice refunds are exactly where release trust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61213-7A4A-4ED8-9981-3EF99693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The change touches money movement, identity, webhooks, AI decisions, and review 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A8141-905D-4B2A-B75E-C76601C5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8006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BF5"/>
          </a:solidFill>
          <a:ln xmlns:a="http://schemas.openxmlformats.org/drawingml/2006/main" w="9525">
            <a:solidFill>
              <a:srgbClr val="F0D0A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537C3-C174-4C9F-A3E1-D21053BC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526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Change 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C833D-7D7F-49DA-B14B-E2E4DB8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11F28-849C-45D9-9088-AACE5AA6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72026"/>
                </a:solidFill>
                <a:latin typeface="Aptos Mono"/>
                <a:ea typeface="Aptos Mono"/>
                <a:cs typeface="Aptos Mono"/>
              </a:rPr>
              <a:t>app/auth/roles.py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F72F7-F527-4DF6-BD6F-175406E4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3F212-C37D-4635-A999-8812E34C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72026"/>
                </a:solidFill>
                <a:latin typeface="Aptos Mono"/>
                <a:ea typeface="Aptos Mono"/>
                <a:cs typeface="Aptos Mono"/>
              </a:rPr>
              <a:t>app/billing/refunds.py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010E8-94AA-4FD8-80F1-8E4B3A5A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39709-B7D9-4431-B240-AD8F70EA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72026"/>
                </a:solidFill>
                <a:latin typeface="Aptos Mono"/>
                <a:ea typeface="Aptos Mono"/>
                <a:cs typeface="Aptos Mono"/>
              </a:rPr>
              <a:t>app/integrations/erp_webhook.py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6E1CA-B31D-4973-9CD1-94F4F572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471CC-66C9-4227-A833-8DADA214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72026"/>
                </a:solidFill>
                <a:latin typeface="Aptos Mono"/>
                <a:ea typeface="Aptos Mono"/>
                <a:cs typeface="Aptos Mono"/>
              </a:rPr>
              <a:t>app/agents/invoice_refund_agent.py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9459C-1213-4720-864A-87287E9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67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958FA-A252-49DA-9A56-2355397E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00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72026"/>
                </a:solidFill>
                <a:latin typeface="Aptos Mono"/>
                <a:ea typeface="Aptos Mono"/>
                <a:cs typeface="Aptos Mono"/>
              </a:rPr>
              <a:t>app/ui/refund_review_dashboard.tsx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CC817-6368-49A2-B279-FA560AC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75173-23D1-4F41-884E-90F62DF0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10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72026"/>
                </a:solidFill>
                <a:latin typeface="Aptos Mono"/>
                <a:ea typeface="Aptos Mono"/>
                <a:cs typeface="Aptos Mono"/>
              </a:rPr>
              <a:t>tests/test_refund_flow.py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290B89-94B6-49B2-BE41-82A4232A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2190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CE5E2"/>
          </a:solidFill>
          <a:ln xmlns:a="http://schemas.openxmlformats.org/drawingml/2006/main" w="9525">
            <a:solidFill>
              <a:srgbClr val="A8261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936A6-583B-49DF-B65F-AA1E37C5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826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82619"/>
                </a:solidFill>
                <a:latin typeface="Aptos"/>
                <a:ea typeface="Aptos"/>
                <a:cs typeface="Aptos"/>
              </a:rPr>
              <a:t>Payment logic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A971B2-4D33-42ED-9642-2DCA7116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Duplicate invoices, refund abuse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608285-C201-4CC1-A3DE-8E144E89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62150"/>
            <a:ext cx="2190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923DC-1474-4699-9E5D-C10E2DFC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145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Authentication roles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98C64-BB72-40F7-AB18-3A930E7B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Privilege bypass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BDB118-6535-46A0-9DB3-9854483F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2190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2EEAC-6ACB-4702-B22F-B13A189D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14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AI recommendation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BD4365-F825-45D5-8DDB-4E4FB498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1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Unsafe irreversible 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AD1BB1-FCF0-4B17-96FE-053FD8F1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190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9A885D-61F0-4362-9A1B-C474727B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14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ERP webhook sync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E4069F-F6FE-4370-AA04-596D2D6E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814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Replay / duplicate downstream event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B4B128-408C-4E33-BA45-3FE57157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2190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E7BD9F-BE72-4943-B272-5E8CBA9C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Review dashboard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15743A-591F-404B-A1D5-4138B5A2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Human approval state drift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174D51-B277-4785-93F2-17F77046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470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This is not a contrived toy flow: it is a real release-risk shape.</a:t>
            </a:r>
          </a:p>
        </p:txBody>
      </p:sp>
    </p:spTree>
    <p:extLst>
      <p:ext uri="{BB962C8B-B14F-4D97-AF65-F5344CB8AC3E}">
        <p14:creationId xmlns:p14="http://schemas.microsoft.com/office/powerpoint/2010/main" val="20651744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F9C83C-84E1-44C8-BE64-E6F0C386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89B36-7232-4A35-8356-5B4FC692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66BDC-A050-4FAD-BA4A-9B371268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Sentinel QA Agent | UiPath Test Cloud release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BB440-D8B3-4809-91DD-2995B91A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D4FA4-AAB4-46CF-B812-EF096CCD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RISK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F2AA0-D86A-4674-83EF-1E7ED5BB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agent converts vague release risk into specific, testable signals.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00A3E-9227-4CE1-A291-D128224F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Every generated test is anchored to evidence from the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04458-B979-4879-AE0F-71D94BFE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80613-3E8B-4025-A1F7-7D6D037E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Release risk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C1D4C-7A02-4786-89B7-F935CFDC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8261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A82619"/>
                </a:solidFill>
                <a:latin typeface="Aptos"/>
                <a:ea typeface="Aptos"/>
                <a:cs typeface="Aptos"/>
              </a:rPr>
              <a:t>96/100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E8A81-54EC-4488-84AB-120E156E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High-risk release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084FE-341F-4A26-82E3-A1083586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0500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92878-8692-4490-858B-E7882234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Risk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313B0-B23B-4050-A8F1-702F7648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8600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C5AFC-C46E-4FB5-A944-94B4AC32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Payment, auth, AI, webhook, state,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87AE8-720B-40E7-A104-C0DE94AF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0500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AA928-453D-4188-95B5-1CE86CDE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574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Generated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19EA4-7E70-4501-A7DB-706EE5F9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3B835-0908-4A1C-9A20-7E8A1F93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Mapped to Test Cloud assets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A3385-6039-4DA6-A190-E2D90547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0500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D6F37-4747-4C91-A829-5F81E944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574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Human tasks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AB95E-738D-45AB-BCCE-7062A0C2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9F339-EFC5-491C-95A6-6E3187C4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86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Approval + failed evidence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447049-76EF-4582-B684-96D81233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99441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21780-DBB7-41C2-9CF7-D6D5E561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126301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15F0BA-7439-4764-99B4-6DC9A507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265" y="4057650"/>
            <a:ext cx="176593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E8EE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446F2D-C45D-494D-80F2-63DFBA17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265" y="4057650"/>
            <a:ext cx="1377429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2619"/>
          </a:solidFill>
          <a:ln xmlns:a="http://schemas.openxmlformats.org/drawingml/2006/main" w="0">
            <a:solidFill>
              <a:srgbClr val="A8261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56CA2C-26C6-4C73-9148-B0021E48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290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261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2619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359F8F-3F4B-4E9F-9FE2-0C6B47A7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8600"/>
            <a:ext cx="126301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32C995-67A2-40E0-9ADB-243F72BD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665" y="4057650"/>
            <a:ext cx="176593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E8EEF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E24419-0752-48A6-B1B8-699F5B57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665" y="4057650"/>
            <a:ext cx="98892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B96F0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EA6CF6-7018-49A3-BB6F-9784FBFA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290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41572D-AD3A-4BEF-A260-951B7817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126301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AI 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C7629E-30CC-4EA5-9FDC-F188C21A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265" y="4514850"/>
            <a:ext cx="176593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E8EE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A9C7A4-2781-4FFD-AC04-BDBC57A1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265" y="4514850"/>
            <a:ext cx="98892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B96F0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6E6413-CE85-41B5-BFF4-904A4C91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86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6E08A3-4D40-4347-A142-1D02DEFE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95800"/>
            <a:ext cx="126301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External integration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C7BBF7-A301-4ECB-80A7-78DAA82B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665" y="4514850"/>
            <a:ext cx="176593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E8EEF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D59E50-9D9D-4790-9DE9-454EE070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665" y="4514850"/>
            <a:ext cx="918286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F6F7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DDA758-0285-4D99-84EE-1614AA95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86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C17D01-2450-4E0E-95D5-BD72878F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126301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State machine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C6B3D8-AC7B-44BA-8384-BD1BAD8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265" y="4972050"/>
            <a:ext cx="176593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E8EE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357E24-206B-4E34-B272-CA78C718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265" y="4972050"/>
            <a:ext cx="68871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F6F7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39C26A-66B8-4069-906A-48A510F1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434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5160D3-7F06-4EAE-AED9-6BEE9AF6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53000"/>
            <a:ext cx="126301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User experience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9BAFD4-3D43-420E-969F-B5AEB050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665" y="4972050"/>
            <a:ext cx="176593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solidFill>
              <a:srgbClr val="E8EE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DEAD25-6541-4A30-B076-EBCC6890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665" y="4972050"/>
            <a:ext cx="68871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F6F7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740302-651E-4268-9D29-32EEF9EE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434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5972911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A1CC6A-379B-4C00-9783-07558208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E7463-05B6-41CF-BFC1-44EBA3F2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767A2-9008-4574-99C9-ED3CC7E9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Sentinel QA Agent | UiPath Test Cloud release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41041-FA42-45DF-A608-8F02FA06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C9ED5-CAC0-4DA3-A289-0D1329DC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TEST CLOUD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0BFCE-20E0-4A2D-B32E-81A3D821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Generated tests are not generic: they map risk to executable UiPath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76034-A786-4417-8582-88413B46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The plan is structured as Test Cloud assets, priorities, and expected proof.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8760B-F765-4E45-9DCA-A65BB587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276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826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9D49F-78A2-490A-8053-67135FD5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2619"/>
          </a:solidFill>
          <a:ln xmlns:a="http://schemas.openxmlformats.org/drawingml/2006/main" w="0">
            <a:solidFill>
              <a:srgbClr val="A826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2C55A-3777-4FD8-AF2D-0FF9984F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26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82619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80799-9030-410E-9CAF-1E93A818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C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2707C"/>
                </a:solidFill>
                <a:latin typeface="Aptos Mono"/>
                <a:ea typeface="Aptos Mono"/>
                <a:cs typeface="Aptos Mono"/>
              </a:rPr>
              <a:t>SQA-001-PAYMENT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F1DEC-A480-4B23-A37A-66FD26D1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Verify failed payment and retry states do not duplicate orders.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20160-EBCA-4952-8A2D-CD06CF1A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3276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6F0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A2A57-A7AE-4EDE-9F7A-C0D83280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B96F0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5A44A-2E33-4DD3-9F72-616B6772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621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474FB-550D-4E93-BB03-5C607823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075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C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2707C"/>
                </a:solidFill>
                <a:latin typeface="Aptos Mono"/>
                <a:ea typeface="Aptos Mono"/>
                <a:cs typeface="Aptos Mono"/>
              </a:rPr>
              <a:t>SQA-002-AUTH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CF216-337E-4495-8262-33574F90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Verify lower-privilege users cannot call admin or owner-only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23496-62C2-4371-B40C-DBEC6A40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24050"/>
            <a:ext cx="3276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6F0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2CE42-402F-4736-A728-A970F8D3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2405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B96F0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76E8F-B648-4852-8EEC-7A41A213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6217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781D9-B592-46C3-9A2B-64B1944A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C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2707C"/>
                </a:solidFill>
                <a:latin typeface="Aptos Mono"/>
                <a:ea typeface="Aptos Mono"/>
                <a:cs typeface="Aptos Mono"/>
              </a:rPr>
              <a:t>SQA-003-AI-AGENT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609B8-43B9-4A0A-82DC-772AA966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Verify prompt injection cannot trigger unauthorized tool use.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359794-DEBE-409A-8406-5CDF4234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3276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6F7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B321EF-6366-44A2-9F0F-E698378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F6F7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35094-9DEF-4A2B-899D-57986D86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53949D-84B8-450D-98F6-1C829F86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C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2707C"/>
                </a:solidFill>
                <a:latin typeface="Aptos Mono"/>
                <a:ea typeface="Aptos Mono"/>
                <a:cs typeface="Aptos Mono"/>
              </a:rPr>
              <a:t>SQA-004-WEBHOOK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C40EE1-31A5-46EB-9D85-6575CEEA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Verify retry, timeout, duplicate-event, and partial-failure handling.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BC4785-E365-46A3-AD3B-3B0148B4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3276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6F7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809860-FCDA-48DE-AE20-9BF0F376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F6F7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B962B4-FF9F-4F00-9090-6369EB44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FA9194-3202-48B5-BA67-EF511645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862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C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2707C"/>
                </a:solidFill>
                <a:latin typeface="Aptos Mono"/>
                <a:ea typeface="Aptos Mono"/>
                <a:cs typeface="Aptos Mono"/>
              </a:rPr>
              <a:t>SQA-005-STATE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813439-6A3E-480B-8024-5E0088CC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Verify rollback and error handling produce a clear human-visible state.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EE8B08-366B-4769-841B-0C83578E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276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6F7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90A3AF-EEFB-449D-ABFC-2961420A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F6F7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7D2C5C-34DB-4479-8CE1-D4FF024E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A24E75-D260-477D-B94D-4E7DEC85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862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C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2707C"/>
                </a:solidFill>
                <a:latin typeface="Aptos Mono"/>
                <a:ea typeface="Aptos Mono"/>
                <a:cs typeface="Aptos Mono"/>
              </a:rPr>
              <a:t>SQA-006-UI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421FAC-A186-400D-88EC-BBD353DA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Verify audit logs include actor, action, timestamp, and changed object.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3CBE49-6700-4441-88DE-3D9BD460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00700"/>
            <a:ext cx="472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6F7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F6F70"/>
                </a:solidFill>
                <a:latin typeface="Aptos Mono"/>
                <a:ea typeface="Aptos Mono"/>
                <a:cs typeface="Aptos Mono"/>
              </a:rPr>
              <a:t>Output file: demo_output/uipath_test_set_payload.json</a:t>
            </a:r>
          </a:p>
        </p:txBody>
      </p:sp>
    </p:spTree>
    <p:extLst>
      <p:ext uri="{BB962C8B-B14F-4D97-AF65-F5344CB8AC3E}">
        <p14:creationId xmlns:p14="http://schemas.microsoft.com/office/powerpoint/2010/main" val="12556774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FB9CE-BD16-4698-896C-BB1D2A7F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1265D-CE0F-4807-8D6A-F638ADED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26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67EC2-4AC2-4E30-A036-00A0DDE9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Sentinel QA Agent | UiPath Test Cloud release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5E8FF-0D09-4BD9-8285-ABE3F9CD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A7250-4562-4344-B583-CE948620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FAILURE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A8C4-DE89-4C9D-A365-8B83EB80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demo wins because it shows the failure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E4563-0903-45C2-8B4A-D4190C4E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A payment regression is caught before the AI refund workflow reaches production.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46042-4B35-4456-A73F-6C265E2C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4483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CE5E2"/>
          </a:solidFill>
          <a:ln xmlns:a="http://schemas.openxmlformats.org/drawingml/2006/main" w="19050">
            <a:solidFill>
              <a:srgbClr val="A826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7D55F-EAB7-4853-A223-495DE7E0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26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82619"/>
                </a:solidFill>
                <a:latin typeface="Aptos"/>
                <a:ea typeface="Aptos"/>
                <a:cs typeface="Aptos"/>
              </a:rPr>
              <a:t>FAILED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02F65-D123-4D55-BEE2-05523C0F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172026"/>
                </a:solidFill>
                <a:latin typeface="Aptos Mono"/>
                <a:ea typeface="Aptos Mono"/>
                <a:cs typeface="Aptos Mono"/>
              </a:rPr>
              <a:t>SQA-001-PAYMENT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6F54C-190C-477B-A78C-B9C2B893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4286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261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82619"/>
                </a:solidFill>
                <a:latin typeface="Aptos"/>
                <a:ea typeface="Aptos"/>
                <a:cs typeface="Aptos"/>
              </a:rPr>
              <a:t>Checkout retry produced two invoice records for one approved payment.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1A737-B461-4CA1-98E9-8CD1D431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Recommended action: block release and create a human review task.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5E533-AFFF-4FBD-909E-DE58FAA2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3524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E8285-52E4-4B52-8EE9-353514E0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3181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Release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86BF7-014F-4842-A09B-0DC4B1A6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19350"/>
            <a:ext cx="318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8261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A82619"/>
                </a:solidFill>
                <a:latin typeface="Aptos"/>
                <a:ea typeface="Aptos"/>
                <a:cs typeface="Aptos"/>
              </a:rPr>
              <a:t>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13BEC-54F8-4560-BC0C-BDF21C64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1940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Pending human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1EC0A-A433-40C6-958F-31758750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3524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B4CFC-222D-424F-BA25-CB86C2D5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24250"/>
            <a:ext cx="3181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2591F-1FAF-4D09-8A67-82D2FD07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52850"/>
            <a:ext cx="3181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Revenue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7F5E1-24B8-4B80-936B-307CED00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52900"/>
            <a:ext cx="3181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Duplicate invoice = real business failure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485D8-50C6-4BEC-9AE5-52E9EAEC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29200"/>
            <a:ext cx="2800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2528"/>
          </a:solidFill>
          <a:ln xmlns:a="http://schemas.openxmlformats.org/drawingml/2006/main" w="0">
            <a:solidFill>
              <a:srgbClr val="0E25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314C58-31D5-4C68-B0C9-06E85B94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53025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silent release after failed evidence</a:t>
            </a:r>
          </a:p>
        </p:txBody>
      </p:sp>
    </p:spTree>
    <p:extLst>
      <p:ext uri="{BB962C8B-B14F-4D97-AF65-F5344CB8AC3E}">
        <p14:creationId xmlns:p14="http://schemas.microsoft.com/office/powerpoint/2010/main" val="10138612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3A706F-4A8E-48D9-B961-9647E567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3F40A-3ED3-4316-B756-AD759612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60B7C-096C-4FD4-8D99-16A6DEA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Sentinel QA Agent | UiPath Test Cloud release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5F7AB-CD7B-4458-AA26-B1B86351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B2C37-4864-4522-8490-8B9419F9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HUMAN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82419-C3D2-4071-8CFB-D0B378BE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Action Center is where autonomy becomes accountable.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53602-304E-45A1-A6FC-69FE1730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Sentinel creates review tasks only when a human decision is required.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637D0-BF36-4750-B4F1-256DD1B4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5148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D85D8-168F-4E69-841F-EAB98C85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Task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3F65E-24B9-44CF-8406-E455530D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Approve or block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5AC3D-7127-422C-843A-C251C1D1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390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Sentinel QA scored this release 96/100 and returned BLOCK_RELEASE_PENDING_HUMAN_REVIEW.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67E67-06EB-47BD-8806-41B137E8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Owner: Finance release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7F45A-BD9E-48D7-8C75-E5E0538B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33147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07C"/>
          </a:solidFill>
          <a:ln xmlns:a="http://schemas.openxmlformats.org/drawingml/2006/main" w="0">
            <a:solidFill>
              <a:srgbClr val="62707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E5BF5-D164-4E97-A495-02B2693C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10325" y="32670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707C"/>
          </a:solidFill>
          <a:ln xmlns:a="http://schemas.openxmlformats.org/drawingml/2006/main" w="0">
            <a:solidFill>
              <a:srgbClr val="62707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FBA62-BAE9-4495-8D1D-E998691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45148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CE5E2"/>
          </a:solidFill>
          <a:ln xmlns:a="http://schemas.openxmlformats.org/drawingml/2006/main" w="9525">
            <a:solidFill>
              <a:srgbClr val="A8261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8FE95-F21B-4E30-A93B-88C4C3DC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Task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8513F-6B56-4AC8-BED0-F118E66A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670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261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82619"/>
                </a:solidFill>
                <a:latin typeface="Aptos"/>
                <a:ea typeface="Aptos"/>
                <a:cs typeface="Aptos"/>
              </a:rPr>
              <a:t>Review failed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640CF-A16B-4563-99D5-253D61F7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390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Failed payment case: checkout retry produced duplicate invoices for one approved payment.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CEE71-1CDB-4EA9-9A66-2248A6F7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26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82619"/>
                </a:solidFill>
                <a:latin typeface="Aptos"/>
                <a:ea typeface="Aptos"/>
                <a:cs typeface="Aptos"/>
              </a:rPr>
              <a:t>Outcome: fix plan, explicit override, or block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E54FB-DB0E-4FA4-B11F-EDCEA751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34000"/>
            <a:ext cx="491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6F0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B96F0A"/>
                </a:solidFill>
                <a:latin typeface="Aptos Mono"/>
                <a:ea typeface="Aptos Mono"/>
                <a:cs typeface="Aptos Mono"/>
              </a:rPr>
              <a:t>Output file: demo_output/uipath_action_center_tasks.json</a:t>
            </a:r>
          </a:p>
        </p:txBody>
      </p:sp>
    </p:spTree>
    <p:extLst>
      <p:ext uri="{BB962C8B-B14F-4D97-AF65-F5344CB8AC3E}">
        <p14:creationId xmlns:p14="http://schemas.microsoft.com/office/powerpoint/2010/main" val="17140075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1ACF33-0BE9-4974-BCE0-E21FF7C4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3686E-EA01-4115-AC78-1F07AC48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4FFC5-2F66-49D8-B486-97A6613E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Sentinel QA Agent | UiPath Test Cloud release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44334-E13A-4111-84DD-D3694470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27073-AFC9-48D9-969F-1C394922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UIPATH 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5376D-DCE8-4AD0-A4DD-837C8000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UiPath is not a logo in this project. It is the operating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DA9B0-47BF-4C52-BF24-00EF475F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Each platform component owns a distinct part of the release governance loop.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865FF-CA12-442B-9C5C-31C0E326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477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CFEFED"/>
          </a:solidFill>
          <a:ln xmlns:a="http://schemas.openxmlformats.org/drawingml/2006/main" w="9525">
            <a:solidFill>
              <a:srgbClr val="0F6F7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14573-1B24-4E54-B532-6B3C7533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907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Test Cloud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21A7D-EFAC-48FE-8BE2-8840C15E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Owns generated cases, execution evidence, failed/passed status, and test 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3F909-F513-48FA-BB8E-7D982BF2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0477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4F46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71005-AF70-4441-B32F-11D20BCB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622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F46A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F46A5"/>
                </a:solidFill>
                <a:latin typeface="Aptos"/>
                <a:ea typeface="Aptos"/>
                <a:cs typeface="Aptos"/>
              </a:rPr>
              <a:t>Orchestrator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640A8-AC75-408A-BF92-488D5209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8132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Runs robots/test sets and keeps execution repeatable across release candidates.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20956-2338-49B6-9CD5-FF6A3D9F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0477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9525">
            <a:solidFill>
              <a:srgbClr val="B96F0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C4012-F3F3-43A0-B96E-358B38AC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33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Action Center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CC89B-46A4-45F0-9EE4-B5D4E5F8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5287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Routes high-risk or failed releases to a named human owner before production.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CE005-C57A-4582-A097-854F8BB5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10477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F4E6"/>
          </a:solidFill>
          <a:ln xmlns:a="http://schemas.openxmlformats.org/drawingml/2006/main" w="9525">
            <a:solidFill>
              <a:srgbClr val="0F7A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6F0D9-949E-4EBA-9115-2D335E26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0537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A3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A39"/>
                </a:solidFill>
                <a:latin typeface="Aptos"/>
                <a:ea typeface="Aptos"/>
                <a:cs typeface="Aptos"/>
              </a:rPr>
              <a:t>Automation 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3B0DD-31EC-4F42-82F7-C6953AE1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2442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Houses the connected control plane for test, run, review, and audit workflow.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B45ED-A6D3-4FCA-A08F-C9081FD5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956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Submission strategy: show local proof now, then replace simulation with real UiPath Labs evidence once access arrives.</a:t>
            </a:r>
          </a:p>
        </p:txBody>
      </p:sp>
    </p:spTree>
    <p:extLst>
      <p:ext uri="{BB962C8B-B14F-4D97-AF65-F5344CB8AC3E}">
        <p14:creationId xmlns:p14="http://schemas.microsoft.com/office/powerpoint/2010/main" val="4101433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80BA16-95CE-414C-94B0-BA607C17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B9AA7-FE73-4129-A1A6-1BCF21B6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8181B-171C-4F9F-B089-0795C5FE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Sentinel QA Agent | UiPath Test Cloud release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3D121-3B9A-4963-A5FE-D4AC754C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88719-5B9A-41ED-B151-F7B22F39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WHY JUDGES SHOULD 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1B7D5-D043-47C7-A202-33259701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project attacks four prize surfaces at once.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AC1B8-17FC-41D3-8B85-C2D421D0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It is built to be technically credible, visually demoable, and useful to UiPath product feedback.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7397B-0050-4250-B561-A9EB2C08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362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04A83-6CC7-4891-A2A4-2DE22ADD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Track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A5C12-DF4A-489D-B38F-8E3FCE1D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Test Cloud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15FFD-4D74-486D-BE89-12CD8FC2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Primary submission track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5D5E9-E265-4FEA-9EBF-DC6453CF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81200"/>
            <a:ext cx="2362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A899D-0A56-41B4-8321-760F64E1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336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Demo hook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5C8F1-2073-48D3-BD25-1668ADE6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62200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8261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A82619"/>
                </a:solidFill>
                <a:latin typeface="Aptos"/>
                <a:ea typeface="Aptos"/>
                <a:cs typeface="Aptos"/>
              </a:rPr>
              <a:t>Failure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F175D-4840-453C-B093-B914AA18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622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Failed payment evidence blocks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BD2A8-7422-4DD3-972A-7B8BEDC9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2362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D5366-8AE7-4E5C-9BB1-3D933CBA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4A697-2415-4D74-9EB1-58F0E75A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62200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F46A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F46A5"/>
                </a:solidFill>
                <a:latin typeface="Aptos"/>
                <a:ea typeface="Aptos"/>
                <a:cs typeface="Aptos"/>
              </a:rPr>
              <a:t>Cross-platform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B0D69-4C86-4728-ADDA-7984AFD5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GitHub change -&gt; UiPath control plane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D1D47-B826-4DBA-A656-7E2343BC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81200"/>
            <a:ext cx="23622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22E31-EB81-40A8-B908-D425201A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336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073FF7-4A96-4618-9D44-B399FFE9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96F0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96F0A"/>
                </a:solidFill>
                <a:latin typeface="Aptos"/>
                <a:ea typeface="Aptos"/>
                <a:cs typeface="Aptos"/>
              </a:rPr>
              <a:t>Actionable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DE6BA1-6DAB-405F-BA11-BBA7F17C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622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7C"/>
                </a:solidFill>
                <a:latin typeface="Aptos"/>
                <a:ea typeface="Aptos"/>
                <a:cs typeface="Aptos"/>
              </a:rPr>
              <a:t>Specific product requests included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8FF60-8132-4C07-966E-415578A0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99822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4BD048-4AC2-4320-95E8-E96BB54C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makes it memorable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5026A7-3506-48FE-8308-0177B68D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7200"/>
            <a:ext cx="851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6F7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6F70"/>
                </a:solidFill>
                <a:latin typeface="Aptos"/>
                <a:ea typeface="Aptos"/>
                <a:cs typeface="Aptos"/>
              </a:rPr>
              <a:t>Most agent demos end at task completion. Sentinel starts at enterprise acceptance: test evidence, exception handling, and accountable approval.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EE448B-9D4C-407E-8AD8-D9BC131B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81650"/>
            <a:ext cx="868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270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2707C"/>
                </a:solidFill>
                <a:latin typeface="Aptos"/>
                <a:ea typeface="Aptos"/>
                <a:cs typeface="Aptos"/>
              </a:rPr>
              <a:t>Award targets: Best of Test Cloud | Best Demo | Cross-Platform Integration | Product Feedback | Coding-agent bonus</a:t>
            </a:r>
          </a:p>
        </p:txBody>
      </p:sp>
    </p:spTree>
    <p:extLst>
      <p:ext uri="{BB962C8B-B14F-4D97-AF65-F5344CB8AC3E}">
        <p14:creationId xmlns:p14="http://schemas.microsoft.com/office/powerpoint/2010/main" val="15784878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1242CF-26B4-479C-965B-51AF9273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F681F-CE5B-471F-9378-AFDB8CBF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42689-A15B-4FAE-81B3-C2102B8B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D2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FD2D4"/>
                </a:solidFill>
                <a:latin typeface="Aptos"/>
                <a:ea typeface="Aptos"/>
                <a:cs typeface="Aptos"/>
              </a:rPr>
              <a:t>Sentinel QA Agent | UiPath Test Cloud release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172C2-B557-4B9F-A6B3-83C1A72B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9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FD2D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D2D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4DA4A-9203-492C-B6CF-713168DD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6DAD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6DAD6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D1C67-B4C6-4D20-AAE3-F6240BB4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From local proof to live UiPath release gate.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F6093-0406-4746-9336-BDA0AA8F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E3E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FE3E4"/>
                </a:solidFill>
                <a:latin typeface="Aptos"/>
                <a:ea typeface="Aptos"/>
                <a:cs typeface="Aptos"/>
              </a:rPr>
              <a:t>Once Labs access arrives, the exact handoff payloads become real Test Cloud and Action Center assets.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1DEEF-C936-434A-B10B-5E3CE02C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29908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4383B"/>
          </a:solidFill>
          <a:ln xmlns:a="http://schemas.openxmlformats.org/drawingml/2006/main" w="9525">
            <a:solidFill>
              <a:srgbClr val="2A5F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54E01-FE20-40D3-93E2-145365F8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6DAD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86DAD6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3A355-1569-45CD-910E-D47571C4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F5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5F4"/>
                </a:solidFill>
                <a:latin typeface="Aptos"/>
                <a:ea typeface="Aptos"/>
                <a:cs typeface="Aptos"/>
              </a:rPr>
              <a:t>Local demo, dashboard, JSON payloads, deck and repo are ready.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74378-D6CF-4F12-9228-6AF9C067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33718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DAD6"/>
          </a:solidFill>
          <a:ln xmlns:a="http://schemas.openxmlformats.org/drawingml/2006/main" w="0">
            <a:solidFill>
              <a:srgbClr val="86DA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CD27F-0A1D-45A9-AF1E-4A013E66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38625" y="33242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6DAD6"/>
          </a:solidFill>
          <a:ln xmlns:a="http://schemas.openxmlformats.org/drawingml/2006/main" w="0">
            <a:solidFill>
              <a:srgbClr val="86DA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88AA0-5961-4528-ABD3-74ECEAD7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52700"/>
            <a:ext cx="29908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4383B"/>
          </a:solidFill>
          <a:ln xmlns:a="http://schemas.openxmlformats.org/drawingml/2006/main" w="9525">
            <a:solidFill>
              <a:srgbClr val="2A5F6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21950-39EE-45E0-9FA9-6EC7413F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194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D79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D796"/>
                </a:solidFill>
                <a:latin typeface="Aptos"/>
                <a:ea typeface="Aptos"/>
                <a:cs typeface="Aptos"/>
              </a:rPr>
              <a:t>Access arrives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DBC32-5F88-43B2-804D-6E8E1C0C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F5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5F4"/>
                </a:solidFill>
                <a:latin typeface="Aptos"/>
                <a:ea typeface="Aptos"/>
                <a:cs typeface="Aptos"/>
              </a:rPr>
              <a:t>Create Test Cloud test set and Action Center review 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453EE-D6F1-4470-9B9F-4E4BC1D5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33718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DAD6"/>
          </a:solidFill>
          <a:ln xmlns:a="http://schemas.openxmlformats.org/drawingml/2006/main" w="0">
            <a:solidFill>
              <a:srgbClr val="86DA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772B1-8F11-4C2B-80B1-4F96CBD5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53375" y="33242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6DAD6"/>
          </a:solidFill>
          <a:ln xmlns:a="http://schemas.openxmlformats.org/drawingml/2006/main" w="0">
            <a:solidFill>
              <a:srgbClr val="86DA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30BC8-79F2-4414-A823-696F652A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9908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4383B"/>
          </a:solidFill>
          <a:ln xmlns:a="http://schemas.openxmlformats.org/drawingml/2006/main" w="9525">
            <a:solidFill>
              <a:srgbClr val="2A5F6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DF95A-55FF-4B46-AFDB-82371AB8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194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7F0C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7F0C9"/>
                </a:solidFill>
                <a:latin typeface="Aptos"/>
                <a:ea typeface="Aptos"/>
                <a:cs typeface="Aptos"/>
              </a:rPr>
              <a:t>Final submission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38AFC-541A-4E63-AE23-3CEB10AA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F5F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8F5F4"/>
                </a:solidFill>
                <a:latin typeface="Aptos"/>
                <a:ea typeface="Aptos"/>
                <a:cs typeface="Aptos"/>
              </a:rPr>
              <a:t>Record live UiPath evidence and update Devpost links.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B9EA4-FFDF-4F17-99C9-4F7D8832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6DA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6DAD6"/>
                </a:solidFill>
                <a:latin typeface="Aptos"/>
                <a:ea typeface="Aptos"/>
                <a:cs typeface="Aptos"/>
              </a:rPr>
              <a:t>Final claim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B7C7BD-19C7-43AA-9B8E-24AD9062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Sentinel QA Agent makes UiPath the trust layer for AI-built software.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FE6D1-60DB-4411-855D-B17AA603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67400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FD2D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FD2D4"/>
                </a:solidFill>
                <a:latin typeface="Aptos"/>
                <a:ea typeface="Aptos"/>
                <a:cs typeface="Aptos"/>
              </a:rPr>
              <a:t>Ship faster. Block smarter. Prove every release.</a:t>
            </a:r>
          </a:p>
        </p:txBody>
      </p:sp>
    </p:spTree>
    <p:extLst>
      <p:ext uri="{BB962C8B-B14F-4D97-AF65-F5344CB8AC3E}">
        <p14:creationId xmlns:p14="http://schemas.microsoft.com/office/powerpoint/2010/main" val="652776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2026-05-31T08:51:42.1650000Z</dcterms:created>
  <dcterms:modified xsi:type="dcterms:W3CDTF">2026-05-31T08:51:42.1650000Z</dcterms:modified>
</coreProperties>
</file>