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4288" y="14288"/>
            <a:ext cx="4707731" cy="51149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707731" y="14288"/>
            <a:ext cx="14288" cy="5114925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271463" y="1332309"/>
            <a:ext cx="4186238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3750" b="1" spc="-2" kern="0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SENTINEL</a:t>
            </a:r>
            <a:r>
              <a:rPr lang="en-US" sz="3750" b="1" spc="-2" kern="0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
</a:t>
            </a:r>
            <a:r>
              <a:rPr lang="en-US" sz="3750" b="1" spc="-2" kern="0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QA AGENT</a:t>
            </a:r>
            <a:endParaRPr lang="en-US" sz="3750" dirty="0"/>
          </a:p>
        </p:txBody>
      </p:sp>
      <p:sp>
        <p:nvSpPr>
          <p:cNvPr id="6" name="Text 3"/>
          <p:cNvSpPr/>
          <p:nvPr/>
        </p:nvSpPr>
        <p:spPr>
          <a:xfrm>
            <a:off x="271463" y="2503884"/>
            <a:ext cx="4186238" cy="58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The AI Release Guardian for UiPath Test Cloud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271463" y="3414713"/>
            <a:ext cx="498277" cy="22681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Text 5"/>
          <p:cNvSpPr/>
          <p:nvPr/>
        </p:nvSpPr>
        <p:spPr>
          <a:xfrm>
            <a:off x="271463" y="3414713"/>
            <a:ext cx="498277" cy="226814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TRACK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41177" y="3443288"/>
            <a:ext cx="2995017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UiPath AgentHack | Track 3: Test Cloud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1463" y="3698677"/>
            <a:ext cx="498277" cy="22681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/>
          <p:nvPr/>
        </p:nvSpPr>
        <p:spPr>
          <a:xfrm>
            <a:off x="271463" y="3698677"/>
            <a:ext cx="498277" cy="226814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FOCUS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1177" y="3727252"/>
            <a:ext cx="2687836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Security + QA + Release Governance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714875" y="14288"/>
            <a:ext cx="4414838" cy="5114925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14" name="Text 11"/>
          <p:cNvSpPr/>
          <p:nvPr/>
        </p:nvSpPr>
        <p:spPr>
          <a:xfrm>
            <a:off x="4714875" y="14288"/>
            <a:ext cx="4414838" cy="5114925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ctr" indent="0" marL="0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1431"/>
            <a:ext cx="9086850" cy="175021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757363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0056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TRUST GAP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39403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Why Autonomous Agents Fail in Enterprise Environments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285875"/>
            <a:ext cx="822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AI generates workflows, but enterprises lack the auditable evidence chain required for safe production releases. Unchecked autonomy leads to catastrophic failures without human oversight.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8575" y="1757363"/>
            <a:ext cx="4550569" cy="3350419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9" name="Shape 6"/>
          <p:cNvSpPr/>
          <p:nvPr/>
        </p:nvSpPr>
        <p:spPr>
          <a:xfrm>
            <a:off x="4564856" y="1757363"/>
            <a:ext cx="14288" cy="3350419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/>
          <p:nvPr/>
        </p:nvSpPr>
        <p:spPr>
          <a:xfrm>
            <a:off x="314325" y="1971675"/>
            <a:ext cx="397192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TYPICAL AGENT DEMOS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14325" y="2343150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Task completion focused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14325" y="2623542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 evidence chain or audit trail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14325" y="2903934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 clear test ownership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14325" y="3184327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 exception handling route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14325" y="3464719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 formal release decision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857750" y="1971675"/>
            <a:ext cx="397192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ENTERPRISE REALITY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57750" y="2343150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Risk-ranked test coverage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857750" y="2623542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Execution evidence &amp; proof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857750" y="2903934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Human review &amp; approval gates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857750" y="3184327"/>
            <a:ext cx="3971925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Auditable release decisions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857750" y="3464719"/>
            <a:ext cx="3971925" cy="539353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/>
          <p:nvPr/>
        </p:nvSpPr>
        <p:spPr>
          <a:xfrm>
            <a:off x="4857750" y="3464719"/>
            <a:ext cx="3971925" cy="539353"/>
          </a:xfrm>
          <a:prstGeom prst="rect">
            <a:avLst/>
          </a:prstGeom>
          <a:noFill/>
          <a:ln/>
        </p:spPr>
        <p:txBody>
          <a:bodyPr wrap="square" lIns="119126" tIns="119126" rIns="119126" bIns="119126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Sentinel starts where the "happy path" ends: handling failed tests and accountable review.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003697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017984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SENTINEL THESIS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1189434"/>
            <a:ext cx="8229600" cy="92581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900" dirty="0">
                <a:solidFill>
                  <a:srgbClr val="111111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The best enterprise agent is the one a release team can safely </a:t>
            </a:r>
            <a:r>
              <a:rPr lang="en-US" sz="1900" dirty="0">
                <a:solidFill>
                  <a:srgbClr val="111111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trust. Winning agents are </a:t>
            </a:r>
            <a:r>
              <a:rPr lang="en-US" sz="190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Safely Deployable</a:t>
            </a:r>
            <a:r>
              <a:rPr lang="en-US" sz="1900" dirty="0">
                <a:solidFill>
                  <a:srgbClr val="111111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, not just </a:t>
            </a:r>
            <a:r>
              <a:rPr lang="en-US" sz="1900" dirty="0">
                <a:solidFill>
                  <a:srgbClr val="111111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autonomous.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28575" y="2200973"/>
            <a:ext cx="9086850" cy="255855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28575" y="2200973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6"/>
          <p:cNvSpPr/>
          <p:nvPr/>
        </p:nvSpPr>
        <p:spPr>
          <a:xfrm>
            <a:off x="314325" y="2372423"/>
            <a:ext cx="244793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1. BOT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14325" y="2724252"/>
            <a:ext cx="2447934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Autonomous action and intelligent recommendation engine. The agent identifies risk and proposes the path forward.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348047" y="2372423"/>
            <a:ext cx="244793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2. FILECHECK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348047" y="2724252"/>
            <a:ext cx="2447934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UiPath Test Cloud captures proof, screenshots, results, and execution traces. No action without auditable evidence.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381769" y="2372423"/>
            <a:ext cx="2447934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3. USERCHECK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81769" y="2724252"/>
            <a:ext cx="2447934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Strategic human intervention. High-risk or failed releases route to approval gates before reaching production.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8575" y="4759523"/>
            <a:ext cx="9086850" cy="355402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16" name="Shape 13"/>
          <p:cNvSpPr/>
          <p:nvPr/>
        </p:nvSpPr>
        <p:spPr>
          <a:xfrm>
            <a:off x="28575" y="4759523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/>
          <p:nvPr/>
        </p:nvSpPr>
        <p:spPr>
          <a:xfrm>
            <a:off x="28575" y="4759523"/>
            <a:ext cx="9086850" cy="355402"/>
          </a:xfrm>
          <a:prstGeom prst="rect">
            <a:avLst/>
          </a:prstGeom>
          <a:noFill/>
          <a:ln/>
        </p:spPr>
        <p:txBody>
          <a:bodyPr wrap="square" lIns="510286" tIns="102108" rIns="510286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SAFE RELEASE CONTROL PLANE: The enterprise story UiPath can own.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1431" y="21431"/>
            <a:ext cx="9101138" cy="109299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1431" y="1100138"/>
            <a:ext cx="9101138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0056" y="307181"/>
            <a:ext cx="8243888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ARCHITECTURAL BLUEPRINT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0056" y="796528"/>
            <a:ext cx="8243888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From Code Change to Accountable Release Gate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1431" y="1100138"/>
            <a:ext cx="4970738" cy="4021931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8" name="Shape 5"/>
          <p:cNvSpPr/>
          <p:nvPr/>
        </p:nvSpPr>
        <p:spPr>
          <a:xfrm>
            <a:off x="4977882" y="1100138"/>
            <a:ext cx="14288" cy="4021931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37" y="1185863"/>
            <a:ext cx="4314825" cy="231457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97967" y="3557588"/>
            <a:ext cx="3611166" cy="292894"/>
          </a:xfrm>
          <a:prstGeom prst="rect">
            <a:avLst/>
          </a:prstGeom>
          <a:solidFill>
            <a:srgbClr val="D92525"/>
          </a:solidFill>
          <a:ln/>
        </p:spPr>
      </p:sp>
      <p:sp>
        <p:nvSpPr>
          <p:cNvPr id="11" name="Text 7"/>
          <p:cNvSpPr/>
          <p:nvPr/>
        </p:nvSpPr>
        <p:spPr>
          <a:xfrm>
            <a:off x="697967" y="3557588"/>
            <a:ext cx="3611166" cy="292894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SAFETY RULE: NO SILENT PUSH AFTER FAILED EVIDENCE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200008" y="1185863"/>
            <a:ext cx="370824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1. RISK CLASSIFIER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200008" y="1400175"/>
            <a:ext cx="370824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Analyzes GitHub PRs, release notes, and diff excerpts to identify high-risk signals (Payment, Auth, AI).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5200008" y="2194917"/>
            <a:ext cx="370824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2. TEST PLANNER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200008" y="2409230"/>
            <a:ext cx="370824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Generates risk-ranked UiPath Test Cloud cases mapped directly to identified change signals.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5200008" y="3203972"/>
            <a:ext cx="370824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3. UIPATH TEST CLOUD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5200008" y="3418284"/>
            <a:ext cx="370824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Executes generated tests and captures immutable evidence, screenshots, and results.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5200008" y="4213027"/>
            <a:ext cx="370824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4. ACTION CENTER GATE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5200008" y="4427339"/>
            <a:ext cx="370824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Routes failed or high-risk releases to a human approval task for a final release decision.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1431"/>
            <a:ext cx="9086850" cy="119300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200150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0056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REAL-WORLD STRESS TEST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39403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Scenario: AI-Assisted Invoice Refunds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8575" y="1200150"/>
            <a:ext cx="3786188" cy="3907631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8" name="Shape 5"/>
          <p:cNvSpPr/>
          <p:nvPr/>
        </p:nvSpPr>
        <p:spPr>
          <a:xfrm>
            <a:off x="3800475" y="1200150"/>
            <a:ext cx="14288" cy="390763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" y="1371600"/>
            <a:ext cx="1580555" cy="244673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371600"/>
            <a:ext cx="1580555" cy="244673"/>
          </a:xfrm>
          <a:prstGeom prst="rect">
            <a:avLst/>
          </a:prstGeom>
          <a:noFill/>
          <a:ln/>
        </p:spPr>
        <p:txBody>
          <a:bodyPr wrap="square" lIns="85090" tIns="42545" rIns="8509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CHANGE PACKAGE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716286"/>
            <a:ext cx="3063246" cy="278606"/>
          </a:xfrm>
          <a:prstGeom prst="rect">
            <a:avLst/>
          </a:prstGeom>
          <a:solidFill>
            <a:srgbClr val="FFFFFF"/>
          </a:solidFill>
          <a:ln w="9144">
            <a:solidFill>
              <a:srgbClr val="11111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716286"/>
            <a:ext cx="3063246" cy="278606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app/auth/roles.py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2052042"/>
            <a:ext cx="3063246" cy="278606"/>
          </a:xfrm>
          <a:prstGeom prst="rect">
            <a:avLst/>
          </a:prstGeom>
          <a:solidFill>
            <a:srgbClr val="FFFFFF"/>
          </a:solidFill>
          <a:ln w="9144">
            <a:solidFill>
              <a:srgbClr val="11111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2052042"/>
            <a:ext cx="3063246" cy="278606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app/billing/refunds.py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2387798"/>
            <a:ext cx="3063246" cy="278606"/>
          </a:xfrm>
          <a:prstGeom prst="rect">
            <a:avLst/>
          </a:prstGeom>
          <a:solidFill>
            <a:srgbClr val="FFFFFF"/>
          </a:solidFill>
          <a:ln w="9144">
            <a:solidFill>
              <a:srgbClr val="1111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2387798"/>
            <a:ext cx="3063246" cy="278606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app/integrations/erp_webhook.py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723555"/>
            <a:ext cx="3063246" cy="278606"/>
          </a:xfrm>
          <a:prstGeom prst="rect">
            <a:avLst/>
          </a:prstGeom>
          <a:solidFill>
            <a:srgbClr val="FFFFFF"/>
          </a:solidFill>
          <a:ln w="9144">
            <a:solidFill>
              <a:srgbClr val="11111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2723555"/>
            <a:ext cx="3063246" cy="278606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app/agents/refund_agent.py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57200" y="3059311"/>
            <a:ext cx="3063246" cy="278606"/>
          </a:xfrm>
          <a:prstGeom prst="rect">
            <a:avLst/>
          </a:prstGeom>
          <a:solidFill>
            <a:srgbClr val="FFFFFF"/>
          </a:solidFill>
          <a:ln w="9144">
            <a:solidFill>
              <a:srgbClr val="11111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3059311"/>
            <a:ext cx="3063246" cy="278606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app/ui/review_dashboard.tsx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091946" y="1371600"/>
            <a:ext cx="2112764" cy="244673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/>
          <p:nvPr/>
        </p:nvSpPr>
        <p:spPr>
          <a:xfrm>
            <a:off x="4091946" y="1371600"/>
            <a:ext cx="2112764" cy="244673"/>
          </a:xfrm>
          <a:prstGeom prst="rect">
            <a:avLst/>
          </a:prstGeom>
          <a:noFill/>
          <a:ln/>
        </p:spPr>
        <p:txBody>
          <a:bodyPr wrap="square" lIns="85090" tIns="42545" rIns="8509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CRITICAL RISK SURFACES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191958" y="1816298"/>
            <a:ext cx="2054526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Payment Logic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191958" y="2043113"/>
            <a:ext cx="2054526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Duplicate invoices, refund abuse, and transaction atomicity.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6532234" y="1816298"/>
            <a:ext cx="2054554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Auth Roles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532234" y="2043113"/>
            <a:ext cx="205455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Privilege bypass and unauthorized access to admin functions.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191958" y="2523139"/>
            <a:ext cx="2054526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AI Integrity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191958" y="2749953"/>
            <a:ext cx="2054526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Prompt injection triggering unsafe or irreversible tool use.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32234" y="2523139"/>
            <a:ext cx="2054554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System State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532234" y="2749953"/>
            <a:ext cx="2054554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Human approval state drift and ERP webhook synchronization.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091946" y="3172830"/>
            <a:ext cx="4594854" cy="364331"/>
          </a:xfrm>
          <a:prstGeom prst="rect">
            <a:avLst/>
          </a:prstGeom>
          <a:noFill/>
          <a:ln/>
        </p:spPr>
        <p:txBody>
          <a:bodyPr wrap="square" lIns="0" tIns="68072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This is not a contrived toy flow: it is a real enterprise release-risk shape that demands auditable evidence.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29301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07306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RISK ENGINE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Converting Vague Uncertainty into Testable Signals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8575" y="1307306"/>
            <a:ext cx="3786188" cy="3807619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8" name="Shape 5"/>
          <p:cNvSpPr/>
          <p:nvPr/>
        </p:nvSpPr>
        <p:spPr>
          <a:xfrm>
            <a:off x="3800475" y="1307306"/>
            <a:ext cx="14288" cy="3807619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2349401"/>
            <a:ext cx="3063246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RELEASE RISK SCORE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2861965"/>
            <a:ext cx="3063246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6200" b="1" dirty="0">
                <a:solidFill>
                  <a:srgbClr val="D92525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96</a:t>
            </a: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/100</a:t>
            </a:r>
            <a:endParaRPr lang="en-US" sz="6200" dirty="0"/>
          </a:p>
        </p:txBody>
      </p:sp>
      <p:sp>
        <p:nvSpPr>
          <p:cNvPr id="11" name="Text 8"/>
          <p:cNvSpPr/>
          <p:nvPr/>
        </p:nvSpPr>
        <p:spPr>
          <a:xfrm>
            <a:off x="457200" y="3876377"/>
            <a:ext cx="1460171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Signals: </a:t>
            </a:r>
            <a:r>
              <a:rPr lang="en-US" sz="900" b="1" dirty="0">
                <a:solidFill>
                  <a:srgbClr val="0044C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60246" y="3876377"/>
            <a:ext cx="1460199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Tests: </a:t>
            </a:r>
            <a:r>
              <a:rPr lang="en-US" sz="900" b="1" dirty="0">
                <a:solidFill>
                  <a:srgbClr val="0044C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6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4188916"/>
            <a:ext cx="1460171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Tasks: </a:t>
            </a:r>
            <a:r>
              <a:rPr lang="en-US" sz="900" b="1" dirty="0">
                <a:solidFill>
                  <a:srgbClr val="0044C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060246" y="4188916"/>
            <a:ext cx="1460199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Status: </a:t>
            </a:r>
            <a:r>
              <a:rPr lang="en-US" sz="9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BLOCK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091946" y="1593056"/>
            <a:ext cx="88225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Payment Logic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483203" y="1593056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78%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091946" y="1800225"/>
            <a:ext cx="4594854" cy="200025"/>
          </a:xfrm>
          <a:prstGeom prst="rect">
            <a:avLst/>
          </a:prstGeom>
          <a:solidFill>
            <a:srgbClr val="EEEEEE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91946" y="2150269"/>
            <a:ext cx="122158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AI Agent Integrity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483203" y="2150269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56%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91946" y="2357438"/>
            <a:ext cx="4594854" cy="200025"/>
          </a:xfrm>
          <a:prstGeom prst="rect">
            <a:avLst/>
          </a:prstGeom>
          <a:solidFill>
            <a:srgbClr val="EEEEEE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91946" y="2707481"/>
            <a:ext cx="135731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Authentication Roles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483203" y="2707481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56%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091946" y="2914650"/>
            <a:ext cx="4594854" cy="200025"/>
          </a:xfrm>
          <a:prstGeom prst="rect">
            <a:avLst/>
          </a:prstGeom>
          <a:solidFill>
            <a:srgbClr val="EEEEEE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091946" y="3264694"/>
            <a:ext cx="1425178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External Integrations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483203" y="3264694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52%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091946" y="3471863"/>
            <a:ext cx="4594854" cy="200025"/>
          </a:xfrm>
          <a:prstGeom prst="rect">
            <a:avLst/>
          </a:prstGeom>
          <a:solidFill>
            <a:srgbClr val="EEEEEE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91946" y="3821906"/>
            <a:ext cx="101798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User Experience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483203" y="3821906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39%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091946" y="4029075"/>
            <a:ext cx="4594854" cy="200025"/>
          </a:xfrm>
          <a:prstGeom prst="rect">
            <a:avLst/>
          </a:prstGeom>
          <a:solidFill>
            <a:srgbClr val="EEEEEE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091946" y="4414838"/>
            <a:ext cx="4594854" cy="457200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Every generated test is anchored to evidence from the change package.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29301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07306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TEST CLOUD EXECUTION PLAN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Mapping Identified Risks to Executable Evidence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42888" y="1521619"/>
            <a:ext cx="235744" cy="160734"/>
          </a:xfrm>
          <a:prstGeom prst="rect">
            <a:avLst/>
          </a:prstGeom>
          <a:solidFill>
            <a:srgbClr val="D92525"/>
          </a:solidFill>
          <a:ln/>
        </p:spPr>
      </p:sp>
      <p:sp>
        <p:nvSpPr>
          <p:cNvPr id="8" name="Text 5"/>
          <p:cNvSpPr/>
          <p:nvPr/>
        </p:nvSpPr>
        <p:spPr>
          <a:xfrm>
            <a:off x="242888" y="1521619"/>
            <a:ext cx="235744" cy="16073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P1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242888" y="1753791"/>
            <a:ext cx="25860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SQA-001-PAYMENT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42888" y="1982391"/>
            <a:ext cx="25860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Verify failed payment and retry states do not duplicate orders or invoice records.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3271838" y="1521619"/>
            <a:ext cx="235744" cy="160734"/>
          </a:xfrm>
          <a:prstGeom prst="rect">
            <a:avLst/>
          </a:prstGeom>
          <a:solidFill>
            <a:srgbClr val="D92525"/>
          </a:solidFill>
          <a:ln/>
        </p:spPr>
      </p:sp>
      <p:sp>
        <p:nvSpPr>
          <p:cNvPr id="12" name="Text 9"/>
          <p:cNvSpPr/>
          <p:nvPr/>
        </p:nvSpPr>
        <p:spPr>
          <a:xfrm>
            <a:off x="3271838" y="1521619"/>
            <a:ext cx="235744" cy="16073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P1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71838" y="1753791"/>
            <a:ext cx="25860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SQA-002-AUTH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71838" y="1982391"/>
            <a:ext cx="25860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Verify lower-privilege users cannot call admin or owner-only actions via API or UI.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300788" y="1521619"/>
            <a:ext cx="235744" cy="160734"/>
          </a:xfrm>
          <a:prstGeom prst="rect">
            <a:avLst/>
          </a:prstGeom>
          <a:solidFill>
            <a:srgbClr val="D92525"/>
          </a:solidFill>
          <a:ln/>
        </p:spPr>
      </p:sp>
      <p:sp>
        <p:nvSpPr>
          <p:cNvPr id="16" name="Text 13"/>
          <p:cNvSpPr/>
          <p:nvPr/>
        </p:nvSpPr>
        <p:spPr>
          <a:xfrm>
            <a:off x="6300788" y="1521619"/>
            <a:ext cx="235744" cy="16073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P1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6300788" y="1753791"/>
            <a:ext cx="260032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SQA-003-AI-AGENT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300788" y="1982391"/>
            <a:ext cx="2600325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Verify prompt injection cannot trigger unauthorized tool use or data exfiltration.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242888" y="3193256"/>
            <a:ext cx="235744" cy="160734"/>
          </a:xfrm>
          <a:prstGeom prst="rect">
            <a:avLst/>
          </a:prstGeom>
          <a:solidFill>
            <a:srgbClr val="0044CC"/>
          </a:solidFill>
          <a:ln/>
        </p:spPr>
      </p:sp>
      <p:sp>
        <p:nvSpPr>
          <p:cNvPr id="20" name="Text 17"/>
          <p:cNvSpPr/>
          <p:nvPr/>
        </p:nvSpPr>
        <p:spPr>
          <a:xfrm>
            <a:off x="242888" y="3193256"/>
            <a:ext cx="235744" cy="16073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P2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42888" y="3425428"/>
            <a:ext cx="25860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SQA-004-WEBHOOK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242888" y="3654028"/>
            <a:ext cx="2586038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Verify retry, timeout, duplicate-event, and partial-failure handling in ERP sync.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3271838" y="3193256"/>
            <a:ext cx="235744" cy="160734"/>
          </a:xfrm>
          <a:prstGeom prst="rect">
            <a:avLst/>
          </a:prstGeom>
          <a:solidFill>
            <a:srgbClr val="0044CC"/>
          </a:solidFill>
          <a:ln/>
        </p:spPr>
      </p:sp>
      <p:sp>
        <p:nvSpPr>
          <p:cNvPr id="24" name="Text 21"/>
          <p:cNvSpPr/>
          <p:nvPr/>
        </p:nvSpPr>
        <p:spPr>
          <a:xfrm>
            <a:off x="3271838" y="3193256"/>
            <a:ext cx="235744" cy="16073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P2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271838" y="3425428"/>
            <a:ext cx="258603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SQA-005-STATE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271838" y="3654028"/>
            <a:ext cx="2586038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Verify rollback and error handling produce a clear, human-visible state in the dashboard.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6300788" y="3193256"/>
            <a:ext cx="235744" cy="160734"/>
          </a:xfrm>
          <a:prstGeom prst="rect">
            <a:avLst/>
          </a:prstGeom>
          <a:solidFill>
            <a:srgbClr val="0044C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0788" y="3193256"/>
            <a:ext cx="235744" cy="160734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P2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300788" y="3425428"/>
            <a:ext cx="260032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SQA-006-UI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300788" y="3654028"/>
            <a:ext cx="2600325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Verify audit logs include actor, action, timestamp, and changed object for all events.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28575" y="4636294"/>
            <a:ext cx="9086850" cy="478631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32" name="Shape 29"/>
          <p:cNvSpPr/>
          <p:nvPr/>
        </p:nvSpPr>
        <p:spPr>
          <a:xfrm>
            <a:off x="28575" y="4636294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3" name="Text 30"/>
          <p:cNvSpPr/>
          <p:nvPr/>
        </p:nvSpPr>
        <p:spPr>
          <a:xfrm>
            <a:off x="28575" y="4636294"/>
            <a:ext cx="9086850" cy="478631"/>
          </a:xfrm>
          <a:prstGeom prst="rect">
            <a:avLst/>
          </a:prstGeom>
          <a:noFill/>
          <a:ln/>
        </p:spPr>
        <p:txBody>
          <a:bodyPr wrap="square" lIns="510286" tIns="127508" rIns="510286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OUTPUT: demo_output/uipath_test_set_payload.json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36445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78744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CATCHING THE CRITICAL FAILURE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The Demo Wins Because it Shows the Failure Path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8575" y="1378744"/>
            <a:ext cx="4550569" cy="3736181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8" name="Shape 5"/>
          <p:cNvSpPr/>
          <p:nvPr/>
        </p:nvSpPr>
        <p:spPr>
          <a:xfrm>
            <a:off x="4564856" y="1378744"/>
            <a:ext cx="14288" cy="37361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" y="1664494"/>
            <a:ext cx="1171575" cy="303609"/>
          </a:xfrm>
          <a:prstGeom prst="rect">
            <a:avLst/>
          </a:prstGeom>
          <a:solidFill>
            <a:srgbClr val="D92525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664494"/>
            <a:ext cx="1171575" cy="303609"/>
          </a:xfrm>
          <a:prstGeom prst="rect">
            <a:avLst/>
          </a:prstGeom>
          <a:noFill/>
          <a:ln/>
        </p:spPr>
        <p:txBody>
          <a:bodyPr wrap="none" lIns="136017" tIns="68072" rIns="136017" bIns="68072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FAILED TEST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2110978"/>
            <a:ext cx="382905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SQA-001-PAYMENT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496741"/>
            <a:ext cx="3829050" cy="984386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0075" y="2753916"/>
            <a:ext cx="354330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Observation: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00075" y="3018234"/>
            <a:ext cx="35433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Checkout retry produced two invoice records for one approved payment.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57200" y="3552565"/>
            <a:ext cx="382905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Recommended Action: Block release and create a high-priority human review task in Action Center.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572000" y="1378744"/>
            <a:ext cx="4543425" cy="37361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Shape 14"/>
          <p:cNvSpPr/>
          <p:nvPr/>
        </p:nvSpPr>
        <p:spPr>
          <a:xfrm>
            <a:off x="4857750" y="1664494"/>
            <a:ext cx="2228850" cy="332184"/>
          </a:xfrm>
          <a:prstGeom prst="rect">
            <a:avLst/>
          </a:prstGeom>
          <a:solidFill>
            <a:srgbClr val="FFFFFF"/>
          </a:solidFill>
          <a:ln w="18288">
            <a:solidFill>
              <a:srgbClr val="D9252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57750" y="1664494"/>
            <a:ext cx="2228850" cy="332184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RELEASE DECISION: BLOCK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57750" y="2110978"/>
            <a:ext cx="382905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319247" y="2496741"/>
            <a:ext cx="3367553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Revenue Risk:</a:t>
            </a:r>
            <a:r>
              <a:rPr lang="en-US" sz="8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8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Duplicate invoices = real business failure and </a:t>
            </a:r>
            <a:r>
              <a:rPr lang="en-US" sz="8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customer friction.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319247" y="3089672"/>
            <a:ext cx="3367553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Audit Integrity:</a:t>
            </a:r>
            <a:r>
              <a:rPr lang="en-US" sz="8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8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Immutable evidence prevents "silent pushes" of </a:t>
            </a:r>
            <a:r>
              <a:rPr lang="en-US" sz="8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broken code.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857750" y="3825478"/>
            <a:ext cx="3829050" cy="61079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 SILENT RELEASE AFTER FAILED EVIDENCE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36445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78744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ACTION CENTER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Where Autonomy Becomes Accountable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664494"/>
            <a:ext cx="367903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TASK 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50256"/>
            <a:ext cx="3679031" cy="203597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2050256"/>
            <a:ext cx="3679031" cy="203597"/>
          </a:xfrm>
          <a:prstGeom prst="rect">
            <a:avLst/>
          </a:prstGeom>
          <a:noFill/>
          <a:ln/>
        </p:spPr>
        <p:txBody>
          <a:bodyPr wrap="square" lIns="85090" tIns="42545" rIns="8509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Approve or Block Release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57200" y="2396728"/>
            <a:ext cx="3679031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Sentinel QA scored this release 96/100 and returned 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BLOCK_RELEASE_PENDING_HUMAN_REVIEW.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</a:t>
            </a: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Owner: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Finance Release Owner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57200" y="3600450"/>
            <a:ext cx="3679031" cy="764381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600450"/>
            <a:ext cx="3679031" cy="764381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Decision Required: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Explicit override or final block based on risk 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signals.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9144" y="1378744"/>
            <a:ext cx="4536281" cy="3271838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14" name="Text 11"/>
          <p:cNvSpPr/>
          <p:nvPr/>
        </p:nvSpPr>
        <p:spPr>
          <a:xfrm>
            <a:off x="5007769" y="1664494"/>
            <a:ext cx="367903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TASK 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07769" y="2050256"/>
            <a:ext cx="3679031" cy="203597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/>
          <p:nvPr/>
        </p:nvSpPr>
        <p:spPr>
          <a:xfrm>
            <a:off x="5007769" y="2050256"/>
            <a:ext cx="3679031" cy="203597"/>
          </a:xfrm>
          <a:prstGeom prst="rect">
            <a:avLst/>
          </a:prstGeom>
          <a:noFill/>
          <a:ln/>
        </p:spPr>
        <p:txBody>
          <a:bodyPr wrap="square" lIns="85090" tIns="42545" rIns="8509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Review Failed Test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07769" y="2396728"/>
            <a:ext cx="3679031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Failed payment case: checkout retry produced duplicate 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invoices for one approved payment.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</a:t>
            </a: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Evidence: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SQA-001-PAYMENT Trace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07769" y="3600450"/>
            <a:ext cx="3679031" cy="764381"/>
          </a:xfrm>
          <a:prstGeom prst="rect">
            <a:avLst/>
          </a:prstGeom>
          <a:solidFill>
            <a:srgbClr val="FFFFFF"/>
          </a:solidFill>
          <a:ln w="18288">
            <a:solidFill>
              <a:srgbClr val="11111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07769" y="3600450"/>
            <a:ext cx="3679031" cy="764381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Outcome: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Fix plan, explicit override, or block production </a:t>
            </a: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push.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8575" y="4650581"/>
            <a:ext cx="9086850" cy="464344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/>
          <p:nvPr/>
        </p:nvSpPr>
        <p:spPr>
          <a:xfrm>
            <a:off x="28575" y="4650581"/>
            <a:ext cx="9086850" cy="464344"/>
          </a:xfrm>
          <a:prstGeom prst="rect">
            <a:avLst/>
          </a:prstGeom>
          <a:noFill/>
          <a:ln/>
        </p:spPr>
        <p:txBody>
          <a:bodyPr wrap="square" lIns="510286" tIns="127508" rIns="510286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INTEGRATION: demo_output/uipath_action_center_tasks.json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29301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07306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UIPATH POWERHOUSE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UiPath is the Operating Model, Not Just a Logo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593056"/>
            <a:ext cx="3671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TEST CLOUD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943100"/>
            <a:ext cx="367188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Owns generated cases, execution evidence, failed/passed status, and immutable test history for every release candidate.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00625" y="1593056"/>
            <a:ext cx="36861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00625" y="1943100"/>
            <a:ext cx="3686175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Runs robots and test sets, ensuring execution is repeatable, scalable, and consistent across environments.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57200" y="3257550"/>
            <a:ext cx="3671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ACTION CENTER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3607594"/>
            <a:ext cx="3671888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Routes high-risk or failed releases to named human owners for accountable approval before production deployment.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000625" y="3257550"/>
            <a:ext cx="36861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AUTOMATION CLOUD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00625" y="3607594"/>
            <a:ext cx="3686175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Houses the connected control plane for the entire test, run, review, and audit workflow in a single unified interface.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8575" y="4636294"/>
            <a:ext cx="9086850" cy="478631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16" name="Shape 13"/>
          <p:cNvSpPr/>
          <p:nvPr/>
        </p:nvSpPr>
        <p:spPr>
          <a:xfrm>
            <a:off x="28575" y="4636294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/>
          <p:nvPr/>
        </p:nvSpPr>
        <p:spPr>
          <a:xfrm>
            <a:off x="28575" y="4636294"/>
            <a:ext cx="9086850" cy="478631"/>
          </a:xfrm>
          <a:prstGeom prst="rect">
            <a:avLst/>
          </a:prstGeom>
          <a:noFill/>
          <a:ln/>
        </p:spPr>
        <p:txBody>
          <a:bodyPr wrap="square" lIns="510286" tIns="127508" rIns="510286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SUBMISSION STRATEGY: Local proof today, live UiPath Labs evidence for final submission.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29301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07306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WHY SENTINEL WINS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Attacking Four Prize Surfaces Simultaneously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14325" y="1521619"/>
            <a:ext cx="3957638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1. TRACK FIT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14325" y="1819870"/>
            <a:ext cx="3957638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Primary submission for </a:t>
            </a:r>
            <a:r>
              <a:rPr lang="en-US" sz="800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Test Cloud</a:t>
            </a: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. Directly addresses the </a:t>
            </a: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core challenge of AI-driven testing and release governance.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857750" y="1521619"/>
            <a:ext cx="3971925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2. DEMO HOOK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857750" y="1819870"/>
            <a:ext cx="3971925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</a:t>
            </a:r>
            <a:r>
              <a:rPr lang="en-US" sz="800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Failure Path</a:t>
            </a: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. Most demos end at success; Sentinel wins by </a:t>
            </a: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proving it can catch and block real business regressions.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314325" y="2995017"/>
            <a:ext cx="3957638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3. INTEGRATION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14325" y="3293269"/>
            <a:ext cx="3957638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Cross-platform synergy. Connects GitHub change signals to the </a:t>
            </a: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full </a:t>
            </a:r>
            <a:r>
              <a:rPr lang="en-US" sz="800" dirty="0">
                <a:solidFill>
                  <a:srgbClr val="D9252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UiPath Control Plane</a:t>
            </a: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(Test Cloud + Action Center).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857750" y="2995017"/>
            <a:ext cx="3971925" cy="191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4. PRODUCT FEEDBACK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57750" y="3293269"/>
            <a:ext cx="3971925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Actionable insights. Built to provide specific, technical feedback for the UiPath product team based on real-world enterprise needs.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575" y="4400550"/>
            <a:ext cx="9086850" cy="714375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543425"/>
            <a:ext cx="82296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AWARD TARGETS: BEST OF TEST CLOUD | BEST DEMO | CROSS-PLATFORM INTEGRATION | PRODUCT FEEDBACK | CODING-AGENT BONUS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8575" y="28575"/>
            <a:ext cx="9086850" cy="136445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8575" y="1378744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457200"/>
            <a:ext cx="822960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1111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NEXT STEPS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57200" y="946547"/>
            <a:ext cx="8229600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From Local Proof to Live Release Gate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14325" y="1664494"/>
            <a:ext cx="24479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14325" y="1980605"/>
            <a:ext cx="2447934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Local demo, dashboard, and JSON payloads are fully functional. The repository and initial deck are ready for review.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348047" y="1664494"/>
            <a:ext cx="24479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ACCESS ARRIVES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48047" y="1980605"/>
            <a:ext cx="2447934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Transition handoff payloads to live UiPath Test Cloud test sets and Action Center review flows once Labs access is granted.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381769" y="1664494"/>
            <a:ext cx="24479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44C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FINAL SUBMISSION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81769" y="1980605"/>
            <a:ext cx="2447934" cy="731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Record live UiPath evidence, update Devpost links, and finalize the technical documentation for the judges.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8575" y="3886200"/>
            <a:ext cx="9086850" cy="1228725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Shape 11"/>
          <p:cNvSpPr/>
          <p:nvPr/>
        </p:nvSpPr>
        <p:spPr>
          <a:xfrm>
            <a:off x="28575" y="3886200"/>
            <a:ext cx="90868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186238"/>
            <a:ext cx="8229600" cy="291108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Sentinel QA Agent makes UiPath the </a:t>
            </a:r>
            <a:r>
              <a:rPr lang="en-US" sz="1700" dirty="0">
                <a:solidFill>
                  <a:srgbClr val="D92525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Trust Layer</a:t>
            </a:r>
            <a:r>
              <a:rPr lang="en-US" sz="1700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 for AI-built software.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57200" y="4620220"/>
            <a:ext cx="8229600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SHIP FASTER. BLOCK SMARTER. PROVE EVERY RELEASE.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2026-05-31T09:27:57Z</dcterms:created>
  <dcterms:modified xsi:type="dcterms:W3CDTF">2026-05-31T09:27:57Z</dcterms:modified>
</cp:coreProperties>
</file>